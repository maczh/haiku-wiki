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A2470"/>
              </a:gs>
              <a:gs pos="100000">
                <a:srgbClr val="283593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3F51B5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竞品分析报告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COMPETITOR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市场格局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对手画像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能力对比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机会点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市场格局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头部：____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腰部：____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长尾：____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对手画像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83593"/>
                </a:solidFill>
                <a:latin typeface="微软雅黑"/>
                <a:ea typeface="微软雅黑"/>
              </a:rPr>
              <a:t>对手A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94560"/>
            <a:ext cx="128016" cy="128016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优势____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61488"/>
            <a:ext cx="128016" cy="128016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短板____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212080" cy="457200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493776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83593"/>
                </a:solidFill>
                <a:latin typeface="微软雅黑"/>
                <a:ea typeface="微软雅黑"/>
              </a:rPr>
              <a:t>对手B</a:t>
            </a:r>
          </a:p>
        </p:txBody>
      </p:sp>
      <p:sp>
        <p:nvSpPr>
          <p:cNvPr id="13" name="Oval 12"/>
          <p:cNvSpPr/>
          <p:nvPr/>
        </p:nvSpPr>
        <p:spPr>
          <a:xfrm>
            <a:off x="6537960" y="2194560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130552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优势____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61488"/>
            <a:ext cx="128016" cy="128016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97480"/>
            <a:ext cx="46634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222"/>
                </a:solidFill>
                <a:latin typeface="微软雅黑"/>
                <a:ea typeface="微软雅黑"/>
              </a:rPr>
              <a:t>短板____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能力对比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产品：____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价格：____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渠道：____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机会点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空白市场：____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差异化：____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A2470"/>
              </a:gs>
              <a:gs pos="100000">
                <a:srgbClr val="283593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