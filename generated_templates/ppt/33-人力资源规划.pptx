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E261F"/>
              </a:gs>
              <a:gs pos="100000">
                <a:srgbClr val="B23A3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D9534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人力资源规划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HR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现状盘点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人才需求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供给策略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实施计划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现状盘点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B23A30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E261F"/>
                </a:solidFill>
                <a:latin typeface="微软雅黑"/>
                <a:ea typeface="微软雅黑"/>
              </a:rPr>
              <a:t>人数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B23A30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E261F"/>
                </a:solidFill>
                <a:latin typeface="微软雅黑"/>
                <a:ea typeface="微软雅黑"/>
              </a:rPr>
              <a:t>流失率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B23A30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E261F"/>
                </a:solidFill>
                <a:latin typeface="微软雅黑"/>
                <a:ea typeface="微软雅黑"/>
              </a:rPr>
              <a:t>空缺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人才需求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岗位：____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数量：____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供给策略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招聘：____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培养：____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B23A30"/>
                </a:solidFill>
                <a:latin typeface="微软雅黑"/>
                <a:ea typeface="微软雅黑"/>
              </a:rPr>
              <a:t>实施计划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457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43912" y="3044952"/>
            <a:ext cx="585216" cy="585216"/>
          </a:xfrm>
          <a:prstGeom prst="ellipse">
            <a:avLst/>
          </a:prstGeom>
          <a:solidFill>
            <a:srgbClr val="B2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391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23A30"/>
                </a:solidFill>
                <a:latin typeface="Arial"/>
                <a:ea typeface="微软雅黑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A4A44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0" name="Oval 9"/>
          <p:cNvSpPr/>
          <p:nvPr/>
        </p:nvSpPr>
        <p:spPr>
          <a:xfrm>
            <a:off x="5788152" y="3044952"/>
            <a:ext cx="585216" cy="585216"/>
          </a:xfrm>
          <a:prstGeom prst="ellipse">
            <a:avLst/>
          </a:prstGeom>
          <a:solidFill>
            <a:srgbClr val="B2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815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379476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23A30"/>
                </a:solidFill>
                <a:latin typeface="Arial"/>
                <a:ea typeface="微软雅黑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80" y="416052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A4A44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4" name="Oval 13"/>
          <p:cNvSpPr/>
          <p:nvPr/>
        </p:nvSpPr>
        <p:spPr>
          <a:xfrm>
            <a:off x="9232392" y="3044952"/>
            <a:ext cx="585216" cy="585216"/>
          </a:xfrm>
          <a:prstGeom prst="ellipse">
            <a:avLst/>
          </a:prstGeom>
          <a:solidFill>
            <a:srgbClr val="B2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239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432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23A30"/>
                </a:solidFill>
                <a:latin typeface="Arial"/>
                <a:ea typeface="微软雅黑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32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A4A44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6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4A44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7E261F"/>
              </a:gs>
              <a:gs pos="100000">
                <a:srgbClr val="B23A3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