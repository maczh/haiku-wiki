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133A5B"/>
              </a:gs>
              <a:gs pos="100000">
                <a:srgbClr val="1F4E79"/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97280"/>
            <a:ext cx="3291840" cy="3291840"/>
          </a:xfrm>
          <a:prstGeom prst="ellipse">
            <a:avLst/>
          </a:prstGeom>
          <a:solidFill>
            <a:srgbClr val="2E75B6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4206240"/>
            <a:ext cx="2377440" cy="2377440"/>
          </a:xfrm>
          <a:prstGeom prst="ellipse">
            <a:avLst/>
          </a:prstGeom>
          <a:solidFill>
            <a:srgbClr val="C9A24B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2148840"/>
            <a:ext cx="201168" cy="155448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03120"/>
            <a:ext cx="9601200" cy="1645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 i="0">
                <a:solidFill>
                  <a:srgbClr val="FFFFFF"/>
                </a:solidFill>
                <a:latin typeface="微软雅黑"/>
                <a:ea typeface="微软雅黑"/>
              </a:rPr>
              <a:t>运营分析报告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3794760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DCE6F1"/>
                </a:solidFill>
                <a:latin typeface="Arial"/>
                <a:ea typeface="微软雅黑"/>
              </a:rPr>
              <a:t>OPERATION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580644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FC4DC"/>
                </a:solidFill>
                <a:latin typeface="Arial"/>
                <a:ea typeface="微软雅黑"/>
              </a:rPr>
              <a:t>寄海文库 · 模板中心   | 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F4E79"/>
                </a:solidFill>
                <a:latin typeface="微软雅黑"/>
                <a:ea typeface="微软雅黑"/>
              </a:rPr>
              <a:t>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运营概况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漏斗分析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926079"/>
            <a:ext cx="292608" cy="292608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07791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71215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用户洞察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584447"/>
            <a:ext cx="292608" cy="292608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566159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529583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优化建议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A6B7B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A6B7B"/>
                </a:solidFill>
                <a:latin typeface="Arial"/>
                <a:ea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F4E79"/>
                </a:solidFill>
                <a:latin typeface="微软雅黑"/>
                <a:ea typeface="微软雅黑"/>
              </a:rPr>
              <a:t>运营概况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2480310" cy="2743200"/>
          </a:xfrm>
          <a:prstGeom prst="round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194560"/>
            <a:ext cx="2480310" cy="14630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697480"/>
            <a:ext cx="248031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1F4E79"/>
                </a:solidFill>
                <a:latin typeface="Arial"/>
                <a:ea typeface="微软雅黑"/>
              </a:rPr>
              <a:t>____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60"/>
            <a:ext cx="248031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33A5B"/>
                </a:solidFill>
                <a:latin typeface="微软雅黑"/>
                <a:ea typeface="微软雅黑"/>
              </a:rPr>
              <a:t>DAU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0430" y="2194560"/>
            <a:ext cx="2480310" cy="2743200"/>
          </a:xfrm>
          <a:prstGeom prst="round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40430" y="2194560"/>
            <a:ext cx="2480310" cy="14630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40430" y="2697480"/>
            <a:ext cx="248031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1F4E79"/>
                </a:solidFill>
                <a:latin typeface="Arial"/>
                <a:ea typeface="微软雅黑"/>
              </a:rPr>
              <a:t>____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0430" y="4023360"/>
            <a:ext cx="248031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33A5B"/>
                </a:solidFill>
                <a:latin typeface="微软雅黑"/>
                <a:ea typeface="微软雅黑"/>
              </a:rPr>
              <a:t>转化率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0780" y="2194560"/>
            <a:ext cx="2480310" cy="2743200"/>
          </a:xfrm>
          <a:prstGeom prst="round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40780" y="2194560"/>
            <a:ext cx="2480310" cy="14630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0780" y="2697480"/>
            <a:ext cx="248031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1F4E79"/>
                </a:solidFill>
                <a:latin typeface="Arial"/>
                <a:ea typeface="微软雅黑"/>
              </a:rPr>
              <a:t>____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0780" y="4023360"/>
            <a:ext cx="248031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33A5B"/>
                </a:solidFill>
                <a:latin typeface="微软雅黑"/>
                <a:ea typeface="微软雅黑"/>
              </a:rPr>
              <a:t>留存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41130" y="2194560"/>
            <a:ext cx="2480310" cy="2743200"/>
          </a:xfrm>
          <a:prstGeom prst="round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41130" y="2194560"/>
            <a:ext cx="2480310" cy="14630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41130" y="2697480"/>
            <a:ext cx="248031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1F4E79"/>
                </a:solidFill>
                <a:latin typeface="Arial"/>
                <a:ea typeface="微软雅黑"/>
              </a:rPr>
              <a:t>____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1130" y="4023360"/>
            <a:ext cx="248031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33A5B"/>
                </a:solidFill>
                <a:latin typeface="微软雅黑"/>
                <a:ea typeface="微软雅黑"/>
              </a:rPr>
              <a:t>GMV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A6B7B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A6B7B"/>
                </a:solidFill>
                <a:latin typeface="Arial"/>
                <a:ea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F4E79"/>
                </a:solidFill>
                <a:latin typeface="微软雅黑"/>
                <a:ea typeface="微软雅黑"/>
              </a:rPr>
              <a:t>漏斗分析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曝光→点击：____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点击→注册：____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926079"/>
            <a:ext cx="292608" cy="292608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07791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71215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注册→付费：____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A6B7B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A6B7B"/>
                </a:solidFill>
                <a:latin typeface="Arial"/>
                <a:ea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F4E79"/>
                </a:solidFill>
                <a:latin typeface="微软雅黑"/>
                <a:ea typeface="微软雅黑"/>
              </a:rPr>
              <a:t>优化建议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926079"/>
            <a:ext cx="292608" cy="292608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07791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71215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C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A6B7B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A6B7B"/>
                </a:solidFill>
                <a:latin typeface="Arial"/>
                <a:ea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133A5B"/>
              </a:gs>
              <a:gs pos="100000">
                <a:srgbClr val="1F4E79"/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2743200"/>
            <a:ext cx="201168" cy="13716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697480"/>
            <a:ext cx="9601200" cy="1463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微软雅黑"/>
                <a:ea typeface="微软雅黑"/>
              </a:rPr>
              <a:t>感谢观看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4206240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DCE6F1"/>
                </a:solidFill>
                <a:latin typeface="Arial"/>
                <a:ea typeface="微软雅黑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585216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FC4DC"/>
                </a:solidFill>
                <a:latin typeface="Arial"/>
                <a:ea typeface="微软雅黑"/>
              </a:rPr>
              <a:t>寄海文库 · 模板中心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