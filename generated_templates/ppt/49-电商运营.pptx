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740E3A"/>
              </a:gs>
              <a:gs pos="100000">
                <a:srgbClr val="AD1457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D81B60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206240"/>
            <a:ext cx="2377440" cy="2377440"/>
          </a:xfrm>
          <a:prstGeom prst="ellipse">
            <a:avLst/>
          </a:prstGeom>
          <a:solidFill>
            <a:srgbClr val="C9A24B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148840"/>
            <a:ext cx="201168" cy="155448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03120"/>
            <a:ext cx="9601200" cy="1645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微软雅黑"/>
                <a:ea typeface="微软雅黑"/>
              </a:rPr>
              <a:t>电商运营方案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379476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DCE6F1"/>
                </a:solidFill>
                <a:latin typeface="Arial"/>
                <a:ea typeface="微软雅黑"/>
              </a:rPr>
              <a:t>E-COMMERCE 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58064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   |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AD1457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店铺诊断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货品策略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流量运营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584447"/>
            <a:ext cx="292608" cy="292608"/>
          </a:xfrm>
          <a:prstGeom prst="ellipse">
            <a:avLst/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59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529583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转化提升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3A5A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3A5A"/>
                </a:solidFill>
                <a:latin typeface="Arial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AD1457"/>
                </a:solidFill>
                <a:latin typeface="微软雅黑"/>
                <a:ea typeface="微软雅黑"/>
              </a:rPr>
              <a:t>店铺诊断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现状：____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问题：____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3A5A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3A5A"/>
                </a:solidFill>
                <a:latin typeface="Arial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AD1457"/>
                </a:solidFill>
                <a:latin typeface="微软雅黑"/>
                <a:ea typeface="微软雅黑"/>
              </a:rPr>
              <a:t>货品策略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5212080" cy="457200"/>
          </a:xfrm>
          <a:prstGeom prst="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72768"/>
            <a:ext cx="493776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AD1457"/>
                </a:solidFill>
                <a:latin typeface="微软雅黑"/>
                <a:ea typeface="微软雅黑"/>
              </a:rPr>
              <a:t>爆款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194560"/>
            <a:ext cx="128016" cy="128016"/>
          </a:xfrm>
          <a:prstGeom prst="ellipse">
            <a:avLst/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30552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761488"/>
            <a:ext cx="128016" cy="128016"/>
          </a:xfrm>
          <a:prstGeom prst="ellipse">
            <a:avLst/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697480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554480"/>
            <a:ext cx="5212080" cy="457200"/>
          </a:xfrm>
          <a:prstGeom prst="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572768"/>
            <a:ext cx="493776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AD1457"/>
                </a:solidFill>
                <a:latin typeface="微软雅黑"/>
                <a:ea typeface="微软雅黑"/>
              </a:rPr>
              <a:t>利润</a:t>
            </a:r>
          </a:p>
        </p:txBody>
      </p:sp>
      <p:sp>
        <p:nvSpPr>
          <p:cNvPr id="13" name="Oval 12"/>
          <p:cNvSpPr/>
          <p:nvPr/>
        </p:nvSpPr>
        <p:spPr>
          <a:xfrm>
            <a:off x="6537960" y="2194560"/>
            <a:ext cx="128016" cy="128016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2130552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5" name="Oval 14"/>
          <p:cNvSpPr/>
          <p:nvPr/>
        </p:nvSpPr>
        <p:spPr>
          <a:xfrm>
            <a:off x="6537960" y="2761488"/>
            <a:ext cx="128016" cy="128016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2697480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3A5A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3A5A"/>
                </a:solidFill>
                <a:latin typeface="Arial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AD1457"/>
                </a:solidFill>
                <a:latin typeface="微软雅黑"/>
                <a:ea typeface="微软雅黑"/>
              </a:rPr>
              <a:t>流量运营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搜索：____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付费：____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私域：____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3A5A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3A5A"/>
                </a:solidFill>
                <a:latin typeface="Arial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AD1457"/>
                </a:solidFill>
                <a:latin typeface="微软雅黑"/>
                <a:ea typeface="微软雅黑"/>
              </a:rPr>
              <a:t>转化提升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5280660" cy="2743200"/>
          </a:xfrm>
          <a:prstGeom prst="round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5280660" cy="146304"/>
          </a:xfrm>
          <a:prstGeom prst="rect">
            <a:avLst/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52806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AD1457"/>
                </a:solidFill>
                <a:latin typeface="Arial"/>
                <a:ea typeface="微软雅黑"/>
              </a:rPr>
              <a:t>____%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52806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740E3A"/>
                </a:solidFill>
                <a:latin typeface="微软雅黑"/>
                <a:ea typeface="微软雅黑"/>
              </a:rPr>
              <a:t>点击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0780" y="2194560"/>
            <a:ext cx="5280660" cy="2743200"/>
          </a:xfrm>
          <a:prstGeom prst="round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0780" y="2194560"/>
            <a:ext cx="5280660" cy="146304"/>
          </a:xfrm>
          <a:prstGeom prst="rect">
            <a:avLst/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40780" y="2697480"/>
            <a:ext cx="52806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AD1457"/>
                </a:solidFill>
                <a:latin typeface="Arial"/>
                <a:ea typeface="微软雅黑"/>
              </a:rPr>
              <a:t>____%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0780" y="4023360"/>
            <a:ext cx="52806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740E3A"/>
                </a:solidFill>
                <a:latin typeface="微软雅黑"/>
                <a:ea typeface="微软雅黑"/>
              </a:rPr>
              <a:t>下单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3A5A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3A5A"/>
                </a:solidFill>
                <a:latin typeface="Arial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740E3A"/>
              </a:gs>
              <a:gs pos="100000">
                <a:srgbClr val="AD1457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2743200"/>
            <a:ext cx="201168" cy="13716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697480"/>
            <a:ext cx="9601200" cy="1463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</a:rPr>
              <a:t>感谢观看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420624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DCE6F1"/>
                </a:solidFill>
                <a:latin typeface="Arial"/>
                <a:ea typeface="微软雅黑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85216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