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F4211"/>
              </a:gs>
              <a:gs pos="100000">
                <a:srgbClr val="33691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558B2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项目启动会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KICKOFF MEETING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项目目标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团队分工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计划排期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协作机制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项目目标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目标：____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成功标准：____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团队分工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3691E"/>
                </a:solidFill>
                <a:latin typeface="微软雅黑"/>
                <a:ea typeface="微软雅黑"/>
              </a:rPr>
              <a:t>角色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PM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开发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328416"/>
            <a:ext cx="128016" cy="128016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6440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测试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3691E"/>
                </a:solidFill>
                <a:latin typeface="微软雅黑"/>
                <a:ea typeface="微软雅黑"/>
              </a:rPr>
              <a:t>职责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3328416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26440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计划排期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0332720" cy="45720"/>
          </a:xfrm>
          <a:prstGeom prst="rect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43912" y="3044952"/>
            <a:ext cx="585216" cy="585216"/>
          </a:xfrm>
          <a:prstGeom prst="ellipse">
            <a:avLst/>
          </a:prstGeom>
          <a:solidFill>
            <a:srgbClr val="336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4391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3691E"/>
                </a:solidFill>
                <a:latin typeface="Arial"/>
                <a:ea typeface="微软雅黑"/>
              </a:rPr>
              <a:t>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F6B3F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0" name="Oval 9"/>
          <p:cNvSpPr/>
          <p:nvPr/>
        </p:nvSpPr>
        <p:spPr>
          <a:xfrm>
            <a:off x="5788152" y="3044952"/>
            <a:ext cx="585216" cy="585216"/>
          </a:xfrm>
          <a:prstGeom prst="ellipse">
            <a:avLst/>
          </a:prstGeom>
          <a:solidFill>
            <a:srgbClr val="336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815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379476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3691E"/>
                </a:solidFill>
                <a:latin typeface="Arial"/>
                <a:ea typeface="微软雅黑"/>
              </a:rPr>
              <a:t>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80" y="416052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F6B3F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4" name="Oval 13"/>
          <p:cNvSpPr/>
          <p:nvPr/>
        </p:nvSpPr>
        <p:spPr>
          <a:xfrm>
            <a:off x="9232392" y="3044952"/>
            <a:ext cx="585216" cy="585216"/>
          </a:xfrm>
          <a:prstGeom prst="ellipse">
            <a:avLst/>
          </a:prstGeom>
          <a:solidFill>
            <a:srgbClr val="336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239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4320" y="205740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3691E"/>
                </a:solidFill>
                <a:latin typeface="Arial"/>
                <a:ea typeface="微软雅黑"/>
              </a:rPr>
              <a:t>上线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320" y="242316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F6B3F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3691E"/>
                </a:solidFill>
                <a:latin typeface="微软雅黑"/>
                <a:ea typeface="微软雅黑"/>
              </a:rPr>
              <a:t>协作机制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日站会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周复盘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0E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3F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F4211"/>
              </a:gs>
              <a:gs pos="100000">
                <a:srgbClr val="33691E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