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F4211"/>
              </a:gs>
              <a:gs pos="100000">
                <a:srgbClr val="33691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558B2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销售业绩汇报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SALES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业绩总览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区域分析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客户结构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提升策略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业绩总览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480310" cy="2743200"/>
          </a:xfrm>
          <a:prstGeom prst="round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2480310" cy="146304"/>
          </a:xfrm>
          <a:prstGeom prst="rect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33691E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F4211"/>
                </a:solidFill>
                <a:latin typeface="微软雅黑"/>
                <a:ea typeface="微软雅黑"/>
              </a:rPr>
              <a:t>销售额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0430" y="2194560"/>
            <a:ext cx="2480310" cy="2743200"/>
          </a:xfrm>
          <a:prstGeom prst="round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0430" y="2194560"/>
            <a:ext cx="2480310" cy="146304"/>
          </a:xfrm>
          <a:prstGeom prst="rect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043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33691E"/>
                </a:solidFill>
                <a:latin typeface="Arial"/>
                <a:ea typeface="微软雅黑"/>
              </a:rPr>
              <a:t>____%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043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F4211"/>
                </a:solidFill>
                <a:latin typeface="微软雅黑"/>
                <a:ea typeface="微软雅黑"/>
              </a:rPr>
              <a:t>同比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80" y="2194560"/>
            <a:ext cx="2480310" cy="2743200"/>
          </a:xfrm>
          <a:prstGeom prst="round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0780" y="2194560"/>
            <a:ext cx="2480310" cy="146304"/>
          </a:xfrm>
          <a:prstGeom prst="rect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078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33691E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078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F4211"/>
                </a:solidFill>
                <a:latin typeface="微软雅黑"/>
                <a:ea typeface="微软雅黑"/>
              </a:rPr>
              <a:t>订单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1130" y="2194560"/>
            <a:ext cx="2480310" cy="2743200"/>
          </a:xfrm>
          <a:prstGeom prst="round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41130" y="2194560"/>
            <a:ext cx="2480310" cy="146304"/>
          </a:xfrm>
          <a:prstGeom prst="rect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113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33691E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113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F4211"/>
                </a:solidFill>
                <a:latin typeface="微软雅黑"/>
                <a:ea typeface="微软雅黑"/>
              </a:rPr>
              <a:t>客单价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区域分析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华东：____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华南：____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其他：____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客户结构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3691E"/>
                </a:solidFill>
                <a:latin typeface="微软雅黑"/>
                <a:ea typeface="微软雅黑"/>
              </a:rPr>
              <a:t>新客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3691E"/>
                </a:solidFill>
                <a:latin typeface="微软雅黑"/>
                <a:ea typeface="微软雅黑"/>
              </a:rPr>
              <a:t>老客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提升策略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渠道：____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转化：____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复购：____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F4211"/>
              </a:gs>
              <a:gs pos="100000">
                <a:srgbClr val="33691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