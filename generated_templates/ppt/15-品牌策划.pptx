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ln>
            <a:noFill/>
          </a:ln>
          <a:effectLst/>
          <a:gradFill>
            <a:gsLst>
              <a:gs pos="0">
                <a:srgbClr val="8A3F0C"/>
              </a:gs>
              <a:gs pos="100000">
                <a:srgbClr val="C25A12"/>
              </a:gs>
            </a:gsLst>
            <a:lin ang="36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692640" y="-1097280"/>
            <a:ext cx="3291840" cy="3291840"/>
          </a:xfrm>
          <a:prstGeom prst="ellipse">
            <a:avLst/>
          </a:prstGeom>
          <a:solidFill>
            <a:srgbClr val="E67E22">
              <a:alpha val="7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789920" y="4206240"/>
            <a:ext cx="2377440" cy="2377440"/>
          </a:xfrm>
          <a:prstGeom prst="ellipse">
            <a:avLst/>
          </a:prstGeom>
          <a:solidFill>
            <a:srgbClr val="8A5A2B">
              <a:alpha val="7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68680" y="2148840"/>
            <a:ext cx="201168" cy="1554480"/>
          </a:xfrm>
          <a:prstGeom prst="rect">
            <a:avLst/>
          </a:prstGeom>
          <a:solidFill>
            <a:srgbClr val="8A5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03120"/>
            <a:ext cx="9601200" cy="16459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4600" b="1" i="0">
                <a:solidFill>
                  <a:srgbClr val="FFFFFF"/>
                </a:solidFill>
                <a:latin typeface="微软雅黑"/>
                <a:ea typeface="微软雅黑"/>
              </a:rPr>
              <a:t>品牌策划方案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61872" y="3794760"/>
            <a:ext cx="9601200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 i="0">
                <a:solidFill>
                  <a:srgbClr val="DCE6F1"/>
                </a:solidFill>
                <a:latin typeface="Arial"/>
                <a:ea typeface="微软雅黑"/>
              </a:rPr>
              <a:t>BRAND PLAN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5806440"/>
            <a:ext cx="91440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AFC4DC"/>
                </a:solidFill>
                <a:latin typeface="Arial"/>
                <a:ea typeface="微软雅黑"/>
              </a:rPr>
              <a:t>寄海文库 · 模板中心   |  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02920"/>
            <a:ext cx="146304" cy="566928"/>
          </a:xfrm>
          <a:prstGeom prst="rect">
            <a:avLst/>
          </a:prstGeom>
          <a:solidFill>
            <a:srgbClr val="8A5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96112" y="457200"/>
            <a:ext cx="8686800" cy="6400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 i="0">
                <a:solidFill>
                  <a:srgbClr val="C25A12"/>
                </a:solidFill>
                <a:latin typeface="微软雅黑"/>
                <a:ea typeface="微软雅黑"/>
              </a:rPr>
              <a:t>目录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10881360" cy="27432"/>
          </a:xfrm>
          <a:prstGeom prst="rect">
            <a:avLst/>
          </a:prstGeom>
          <a:solidFill>
            <a:srgbClr val="FBE6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68680" y="1609344"/>
            <a:ext cx="292608" cy="292608"/>
          </a:xfrm>
          <a:prstGeom prst="ellipse">
            <a:avLst/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591056"/>
            <a:ext cx="292608" cy="29260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Arial"/>
                <a:ea typeface="微软雅黑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25880" y="1554480"/>
            <a:ext cx="996696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0" i="0">
                <a:solidFill>
                  <a:srgbClr val="262626"/>
                </a:solidFill>
                <a:latin typeface="微软雅黑"/>
                <a:ea typeface="微软雅黑"/>
              </a:rPr>
              <a:t>品牌诊断</a:t>
            </a:r>
          </a:p>
        </p:txBody>
      </p:sp>
      <p:sp>
        <p:nvSpPr>
          <p:cNvPr id="8" name="Oval 7"/>
          <p:cNvSpPr/>
          <p:nvPr/>
        </p:nvSpPr>
        <p:spPr>
          <a:xfrm>
            <a:off x="868680" y="2267712"/>
            <a:ext cx="292608" cy="292608"/>
          </a:xfrm>
          <a:prstGeom prst="ellipse">
            <a:avLst/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249424"/>
            <a:ext cx="292608" cy="29260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Arial"/>
                <a:ea typeface="微软雅黑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25880" y="2212848"/>
            <a:ext cx="996696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0" i="0">
                <a:solidFill>
                  <a:srgbClr val="262626"/>
                </a:solidFill>
                <a:latin typeface="微软雅黑"/>
                <a:ea typeface="微软雅黑"/>
              </a:rPr>
              <a:t>定位策略</a:t>
            </a:r>
          </a:p>
        </p:txBody>
      </p:sp>
      <p:sp>
        <p:nvSpPr>
          <p:cNvPr id="11" name="Oval 10"/>
          <p:cNvSpPr/>
          <p:nvPr/>
        </p:nvSpPr>
        <p:spPr>
          <a:xfrm>
            <a:off x="868680" y="2926079"/>
            <a:ext cx="292608" cy="292608"/>
          </a:xfrm>
          <a:prstGeom prst="ellipse">
            <a:avLst/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2907791"/>
            <a:ext cx="292608" cy="29260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Arial"/>
                <a:ea typeface="微软雅黑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25880" y="2871215"/>
            <a:ext cx="996696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0" i="0">
                <a:solidFill>
                  <a:srgbClr val="262626"/>
                </a:solidFill>
                <a:latin typeface="微软雅黑"/>
                <a:ea typeface="微软雅黑"/>
              </a:rPr>
              <a:t>视觉体系</a:t>
            </a:r>
          </a:p>
        </p:txBody>
      </p:sp>
      <p:sp>
        <p:nvSpPr>
          <p:cNvPr id="14" name="Oval 13"/>
          <p:cNvSpPr/>
          <p:nvPr/>
        </p:nvSpPr>
        <p:spPr>
          <a:xfrm>
            <a:off x="868680" y="3584447"/>
            <a:ext cx="292608" cy="292608"/>
          </a:xfrm>
          <a:prstGeom prst="ellipse">
            <a:avLst/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3566159"/>
            <a:ext cx="292608" cy="29260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Arial"/>
                <a:ea typeface="微软雅黑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25880" y="3529583"/>
            <a:ext cx="996696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0" i="0">
                <a:solidFill>
                  <a:srgbClr val="262626"/>
                </a:solidFill>
                <a:latin typeface="微软雅黑"/>
                <a:ea typeface="微软雅黑"/>
              </a:rPr>
              <a:t>传播规划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6446520"/>
            <a:ext cx="10881360" cy="16459"/>
          </a:xfrm>
          <a:prstGeom prst="rect">
            <a:avLst/>
          </a:prstGeom>
          <a:solidFill>
            <a:srgbClr val="FBE6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6492240"/>
            <a:ext cx="64008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7A5638"/>
                </a:solidFill>
                <a:latin typeface="Arial"/>
                <a:ea typeface="微软雅黑"/>
              </a:rPr>
              <a:t>寄海文库 · 模板中心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0" y="6492240"/>
            <a:ext cx="146304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7A5638"/>
                </a:solidFill>
                <a:latin typeface="Arial"/>
                <a:ea typeface="微软雅黑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02920"/>
            <a:ext cx="146304" cy="566928"/>
          </a:xfrm>
          <a:prstGeom prst="rect">
            <a:avLst/>
          </a:prstGeom>
          <a:solidFill>
            <a:srgbClr val="8A5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96112" y="457200"/>
            <a:ext cx="8686800" cy="6400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 i="0">
                <a:solidFill>
                  <a:srgbClr val="C25A12"/>
                </a:solidFill>
                <a:latin typeface="微软雅黑"/>
                <a:ea typeface="微软雅黑"/>
              </a:rPr>
              <a:t>品牌诊断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10881360" cy="27432"/>
          </a:xfrm>
          <a:prstGeom prst="rect">
            <a:avLst/>
          </a:prstGeom>
          <a:solidFill>
            <a:srgbClr val="FBE6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68680" y="1609344"/>
            <a:ext cx="292608" cy="292608"/>
          </a:xfrm>
          <a:prstGeom prst="ellipse">
            <a:avLst/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591056"/>
            <a:ext cx="292608" cy="29260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Arial"/>
                <a:ea typeface="微软雅黑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25880" y="1554480"/>
            <a:ext cx="996696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0" i="0">
                <a:solidFill>
                  <a:srgbClr val="262626"/>
                </a:solidFill>
                <a:latin typeface="微软雅黑"/>
                <a:ea typeface="微软雅黑"/>
              </a:rPr>
              <a:t>现状：____</a:t>
            </a:r>
          </a:p>
        </p:txBody>
      </p:sp>
      <p:sp>
        <p:nvSpPr>
          <p:cNvPr id="8" name="Oval 7"/>
          <p:cNvSpPr/>
          <p:nvPr/>
        </p:nvSpPr>
        <p:spPr>
          <a:xfrm>
            <a:off x="868680" y="2267712"/>
            <a:ext cx="292608" cy="292608"/>
          </a:xfrm>
          <a:prstGeom prst="ellipse">
            <a:avLst/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249424"/>
            <a:ext cx="292608" cy="29260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Arial"/>
                <a:ea typeface="微软雅黑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25880" y="2212848"/>
            <a:ext cx="996696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0" i="0">
                <a:solidFill>
                  <a:srgbClr val="262626"/>
                </a:solidFill>
                <a:latin typeface="微软雅黑"/>
                <a:ea typeface="微软雅黑"/>
              </a:rPr>
              <a:t>机会：____</a:t>
            </a:r>
          </a:p>
        </p:txBody>
      </p:sp>
      <p:sp>
        <p:nvSpPr>
          <p:cNvPr id="11" name="Oval 10"/>
          <p:cNvSpPr/>
          <p:nvPr/>
        </p:nvSpPr>
        <p:spPr>
          <a:xfrm>
            <a:off x="868680" y="2926079"/>
            <a:ext cx="292608" cy="292608"/>
          </a:xfrm>
          <a:prstGeom prst="ellipse">
            <a:avLst/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2907791"/>
            <a:ext cx="292608" cy="29260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Arial"/>
                <a:ea typeface="微软雅黑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25880" y="2871215"/>
            <a:ext cx="996696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0" i="0">
                <a:solidFill>
                  <a:srgbClr val="262626"/>
                </a:solidFill>
                <a:latin typeface="微软雅黑"/>
                <a:ea typeface="微软雅黑"/>
              </a:rPr>
              <a:t>问题：____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6446520"/>
            <a:ext cx="10881360" cy="16459"/>
          </a:xfrm>
          <a:prstGeom prst="rect">
            <a:avLst/>
          </a:prstGeom>
          <a:solidFill>
            <a:srgbClr val="FBE6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6492240"/>
            <a:ext cx="64008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7A5638"/>
                </a:solidFill>
                <a:latin typeface="Arial"/>
                <a:ea typeface="微软雅黑"/>
              </a:rPr>
              <a:t>寄海文库 · 模板中心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0" y="6492240"/>
            <a:ext cx="146304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7A5638"/>
                </a:solidFill>
                <a:latin typeface="Arial"/>
                <a:ea typeface="微软雅黑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02920"/>
            <a:ext cx="146304" cy="566928"/>
          </a:xfrm>
          <a:prstGeom prst="rect">
            <a:avLst/>
          </a:prstGeom>
          <a:solidFill>
            <a:srgbClr val="8A5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96112" y="457200"/>
            <a:ext cx="8686800" cy="6400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 i="0">
                <a:solidFill>
                  <a:srgbClr val="C25A12"/>
                </a:solidFill>
                <a:latin typeface="微软雅黑"/>
                <a:ea typeface="微软雅黑"/>
              </a:rPr>
              <a:t>定位策略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10881360" cy="27432"/>
          </a:xfrm>
          <a:prstGeom prst="rect">
            <a:avLst/>
          </a:prstGeom>
          <a:solidFill>
            <a:srgbClr val="FBE6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68680" y="1609344"/>
            <a:ext cx="292608" cy="292608"/>
          </a:xfrm>
          <a:prstGeom prst="ellipse">
            <a:avLst/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591056"/>
            <a:ext cx="292608" cy="29260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Arial"/>
                <a:ea typeface="微软雅黑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25880" y="1554480"/>
            <a:ext cx="996696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0" i="0">
                <a:solidFill>
                  <a:srgbClr val="262626"/>
                </a:solidFill>
                <a:latin typeface="微软雅黑"/>
                <a:ea typeface="微软雅黑"/>
              </a:rPr>
              <a:t>核心价值：____</a:t>
            </a:r>
          </a:p>
        </p:txBody>
      </p:sp>
      <p:sp>
        <p:nvSpPr>
          <p:cNvPr id="8" name="Oval 7"/>
          <p:cNvSpPr/>
          <p:nvPr/>
        </p:nvSpPr>
        <p:spPr>
          <a:xfrm>
            <a:off x="868680" y="2267712"/>
            <a:ext cx="292608" cy="292608"/>
          </a:xfrm>
          <a:prstGeom prst="ellipse">
            <a:avLst/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249424"/>
            <a:ext cx="292608" cy="29260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Arial"/>
                <a:ea typeface="微软雅黑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25880" y="2212848"/>
            <a:ext cx="996696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0" i="0">
                <a:solidFill>
                  <a:srgbClr val="262626"/>
                </a:solidFill>
                <a:latin typeface="微软雅黑"/>
                <a:ea typeface="微软雅黑"/>
              </a:rPr>
              <a:t>个性：____</a:t>
            </a:r>
          </a:p>
        </p:txBody>
      </p:sp>
      <p:sp>
        <p:nvSpPr>
          <p:cNvPr id="11" name="Oval 10"/>
          <p:cNvSpPr/>
          <p:nvPr/>
        </p:nvSpPr>
        <p:spPr>
          <a:xfrm>
            <a:off x="868680" y="2926079"/>
            <a:ext cx="292608" cy="292608"/>
          </a:xfrm>
          <a:prstGeom prst="ellipse">
            <a:avLst/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2907791"/>
            <a:ext cx="292608" cy="29260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Arial"/>
                <a:ea typeface="微软雅黑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25880" y="2871215"/>
            <a:ext cx="996696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0" i="0">
                <a:solidFill>
                  <a:srgbClr val="262626"/>
                </a:solidFill>
                <a:latin typeface="微软雅黑"/>
                <a:ea typeface="微软雅黑"/>
              </a:rPr>
              <a:t>口号：____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6446520"/>
            <a:ext cx="10881360" cy="16459"/>
          </a:xfrm>
          <a:prstGeom prst="rect">
            <a:avLst/>
          </a:prstGeom>
          <a:solidFill>
            <a:srgbClr val="FBE6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6492240"/>
            <a:ext cx="64008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7A5638"/>
                </a:solidFill>
                <a:latin typeface="Arial"/>
                <a:ea typeface="微软雅黑"/>
              </a:rPr>
              <a:t>寄海文库 · 模板中心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0" y="6492240"/>
            <a:ext cx="146304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7A5638"/>
                </a:solidFill>
                <a:latin typeface="Arial"/>
                <a:ea typeface="微软雅黑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02920"/>
            <a:ext cx="146304" cy="566928"/>
          </a:xfrm>
          <a:prstGeom prst="rect">
            <a:avLst/>
          </a:prstGeom>
          <a:solidFill>
            <a:srgbClr val="8A5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96112" y="457200"/>
            <a:ext cx="8686800" cy="6400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 i="0">
                <a:solidFill>
                  <a:srgbClr val="C25A12"/>
                </a:solidFill>
                <a:latin typeface="微软雅黑"/>
                <a:ea typeface="微软雅黑"/>
              </a:rPr>
              <a:t>视觉体系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10881360" cy="27432"/>
          </a:xfrm>
          <a:prstGeom prst="rect">
            <a:avLst/>
          </a:prstGeom>
          <a:solidFill>
            <a:srgbClr val="FBE6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554480"/>
            <a:ext cx="10881360" cy="4480560"/>
          </a:xfrm>
          <a:prstGeom prst="roundRect">
            <a:avLst/>
          </a:prstGeom>
          <a:noFill/>
          <a:ln w="19050">
            <a:solidFill>
              <a:srgbClr val="E67E22"/>
            </a:solidFill>
            <a:prstDash val="sys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3108960"/>
            <a:ext cx="10881360" cy="6400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2200" b="1" i="0">
                <a:solidFill>
                  <a:srgbClr val="E67E22"/>
                </a:solidFill>
                <a:latin typeface="Arial"/>
                <a:ea typeface="微软雅黑"/>
              </a:rPr>
              <a:t>图片 / IMAGE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794760"/>
            <a:ext cx="10881360" cy="4572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0" i="0">
                <a:solidFill>
                  <a:srgbClr val="7A5638"/>
                </a:solidFill>
                <a:latin typeface="微软雅黑"/>
                <a:ea typeface="微软雅黑"/>
              </a:rPr>
              <a:t>插入Logo/VI示意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6446520"/>
            <a:ext cx="10881360" cy="16459"/>
          </a:xfrm>
          <a:prstGeom prst="rect">
            <a:avLst/>
          </a:prstGeom>
          <a:solidFill>
            <a:srgbClr val="FBE6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6492240"/>
            <a:ext cx="64008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7A5638"/>
                </a:solidFill>
                <a:latin typeface="Arial"/>
                <a:ea typeface="微软雅黑"/>
              </a:rPr>
              <a:t>寄海文库 · 模板中心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0" y="6492240"/>
            <a:ext cx="146304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7A5638"/>
                </a:solidFill>
                <a:latin typeface="Arial"/>
                <a:ea typeface="微软雅黑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02920"/>
            <a:ext cx="146304" cy="566928"/>
          </a:xfrm>
          <a:prstGeom prst="rect">
            <a:avLst/>
          </a:prstGeom>
          <a:solidFill>
            <a:srgbClr val="8A5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96112" y="457200"/>
            <a:ext cx="8686800" cy="6400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 i="0">
                <a:solidFill>
                  <a:srgbClr val="C25A12"/>
                </a:solidFill>
                <a:latin typeface="微软雅黑"/>
                <a:ea typeface="微软雅黑"/>
              </a:rPr>
              <a:t>传播规划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10881360" cy="27432"/>
          </a:xfrm>
          <a:prstGeom prst="rect">
            <a:avLst/>
          </a:prstGeom>
          <a:solidFill>
            <a:srgbClr val="FBE6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68680" y="1609344"/>
            <a:ext cx="292608" cy="292608"/>
          </a:xfrm>
          <a:prstGeom prst="ellipse">
            <a:avLst/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591056"/>
            <a:ext cx="292608" cy="29260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Arial"/>
                <a:ea typeface="微软雅黑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25880" y="1554480"/>
            <a:ext cx="996696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0" i="0">
                <a:solidFill>
                  <a:srgbClr val="262626"/>
                </a:solidFill>
                <a:latin typeface="微软雅黑"/>
                <a:ea typeface="微软雅黑"/>
              </a:rPr>
              <a:t>线上：____</a:t>
            </a:r>
          </a:p>
        </p:txBody>
      </p:sp>
      <p:sp>
        <p:nvSpPr>
          <p:cNvPr id="8" name="Oval 7"/>
          <p:cNvSpPr/>
          <p:nvPr/>
        </p:nvSpPr>
        <p:spPr>
          <a:xfrm>
            <a:off x="868680" y="2267712"/>
            <a:ext cx="292608" cy="292608"/>
          </a:xfrm>
          <a:prstGeom prst="ellipse">
            <a:avLst/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249424"/>
            <a:ext cx="292608" cy="29260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Arial"/>
                <a:ea typeface="微软雅黑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25880" y="2212848"/>
            <a:ext cx="996696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0" i="0">
                <a:solidFill>
                  <a:srgbClr val="262626"/>
                </a:solidFill>
                <a:latin typeface="微软雅黑"/>
                <a:ea typeface="微软雅黑"/>
              </a:rPr>
              <a:t>线下：____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6446520"/>
            <a:ext cx="10881360" cy="16459"/>
          </a:xfrm>
          <a:prstGeom prst="rect">
            <a:avLst/>
          </a:prstGeom>
          <a:solidFill>
            <a:srgbClr val="FBE6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6492240"/>
            <a:ext cx="64008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7A5638"/>
                </a:solidFill>
                <a:latin typeface="Arial"/>
                <a:ea typeface="微软雅黑"/>
              </a:rPr>
              <a:t>寄海文库 · 模板中心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0" y="6492240"/>
            <a:ext cx="146304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7A5638"/>
                </a:solidFill>
                <a:latin typeface="Arial"/>
                <a:ea typeface="微软雅黑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ln>
            <a:noFill/>
          </a:ln>
          <a:effectLst/>
          <a:gradFill>
            <a:gsLst>
              <a:gs pos="0">
                <a:srgbClr val="8A3F0C"/>
              </a:gs>
              <a:gs pos="100000">
                <a:srgbClr val="C25A12"/>
              </a:gs>
            </a:gsLst>
            <a:lin ang="36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68680" y="2743200"/>
            <a:ext cx="201168" cy="1371600"/>
          </a:xfrm>
          <a:prstGeom prst="rect">
            <a:avLst/>
          </a:prstGeom>
          <a:solidFill>
            <a:srgbClr val="8A5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34440" y="2697480"/>
            <a:ext cx="9601200" cy="14630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4400" b="1" i="0">
                <a:solidFill>
                  <a:srgbClr val="FFFFFF"/>
                </a:solidFill>
                <a:latin typeface="微软雅黑"/>
                <a:ea typeface="微软雅黑"/>
              </a:rPr>
              <a:t>感谢观看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61872" y="4206240"/>
            <a:ext cx="9601200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0" i="0">
                <a:solidFill>
                  <a:srgbClr val="DCE6F1"/>
                </a:solidFill>
                <a:latin typeface="Arial"/>
                <a:ea typeface="微软雅黑"/>
              </a:rPr>
              <a:t>THANK YOU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34440" y="5852160"/>
            <a:ext cx="91440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AFC4DC"/>
                </a:solidFill>
                <a:latin typeface="Arial"/>
                <a:ea typeface="微软雅黑"/>
              </a:rPr>
              <a:t>寄海文库 · 模板中心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