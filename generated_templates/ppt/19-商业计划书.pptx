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740E3A"/>
              </a:gs>
              <a:gs pos="100000">
                <a:srgbClr val="AD1457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D81B60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商业计划书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BUSINESS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AD1457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痛点与机遇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解决方案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商业模式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团队与财务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AD1457"/>
                </a:solidFill>
                <a:latin typeface="微软雅黑"/>
                <a:ea typeface="微软雅黑"/>
              </a:rPr>
              <a:t>痛点与机遇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痛点：____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市场：____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机会：____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AD1457"/>
                </a:solidFill>
                <a:latin typeface="微软雅黑"/>
                <a:ea typeface="微软雅黑"/>
              </a:rPr>
              <a:t>解决方案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产品：____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差异化：____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AD1457"/>
                </a:solidFill>
                <a:latin typeface="微软雅黑"/>
                <a:ea typeface="微软雅黑"/>
              </a:rPr>
              <a:t>商业模式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212080" cy="457200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49377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D1457"/>
                </a:solidFill>
                <a:latin typeface="微软雅黑"/>
                <a:ea typeface="微软雅黑"/>
              </a:rPr>
              <a:t>收入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194560"/>
            <a:ext cx="128016" cy="128016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30552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761488"/>
            <a:ext cx="128016" cy="128016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212080" cy="457200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72768"/>
            <a:ext cx="49377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D1457"/>
                </a:solidFill>
                <a:latin typeface="微软雅黑"/>
                <a:ea typeface="微软雅黑"/>
              </a:rPr>
              <a:t>成本</a:t>
            </a:r>
          </a:p>
        </p:txBody>
      </p:sp>
      <p:sp>
        <p:nvSpPr>
          <p:cNvPr id="13" name="Oval 12"/>
          <p:cNvSpPr/>
          <p:nvPr/>
        </p:nvSpPr>
        <p:spPr>
          <a:xfrm>
            <a:off x="6537960" y="2194560"/>
            <a:ext cx="128016" cy="12801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130552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5" name="Oval 14"/>
          <p:cNvSpPr/>
          <p:nvPr/>
        </p:nvSpPr>
        <p:spPr>
          <a:xfrm>
            <a:off x="6537960" y="2761488"/>
            <a:ext cx="128016" cy="12801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697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AD1457"/>
                </a:solidFill>
                <a:latin typeface="微软雅黑"/>
                <a:ea typeface="微软雅黑"/>
              </a:rPr>
              <a:t>财务预测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413760" cy="2743200"/>
          </a:xfrm>
          <a:prstGeom prst="round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3413760" cy="146304"/>
          </a:xfrm>
          <a:prstGeom prst="rect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AD1457"/>
                </a:solidFill>
                <a:latin typeface="Arial"/>
                <a:ea typeface="微软雅黑"/>
              </a:rPr>
              <a:t>Y1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740E3A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3880" y="2194560"/>
            <a:ext cx="3413760" cy="2743200"/>
          </a:xfrm>
          <a:prstGeom prst="round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3880" y="2194560"/>
            <a:ext cx="3413760" cy="146304"/>
          </a:xfrm>
          <a:prstGeom prst="rect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38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AD1457"/>
                </a:solidFill>
                <a:latin typeface="Arial"/>
                <a:ea typeface="微软雅黑"/>
              </a:rPr>
              <a:t>Y2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38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740E3A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7680" y="2194560"/>
            <a:ext cx="3413760" cy="2743200"/>
          </a:xfrm>
          <a:prstGeom prst="round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7680" y="2194560"/>
            <a:ext cx="3413760" cy="146304"/>
          </a:xfrm>
          <a:prstGeom prst="rect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76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AD1457"/>
                </a:solidFill>
                <a:latin typeface="Arial"/>
                <a:ea typeface="微软雅黑"/>
              </a:rPr>
              <a:t>Y3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76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740E3A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AD1457"/>
                </a:solidFill>
                <a:latin typeface="微软雅黑"/>
                <a:ea typeface="微软雅黑"/>
              </a:rPr>
              <a:t>团队与融资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团队：____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融资：____ 用于 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740E3A"/>
              </a:gs>
              <a:gs pos="100000">
                <a:srgbClr val="AD1457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